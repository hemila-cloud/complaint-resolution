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9" r:id="rId7"/>
  </p:sldIdLst>
  <p:sldSz cx="18288000" cy="10287000"/>
  <p:notesSz cx="6858000" cy="9144000"/>
  <p:embeddedFontLst>
    <p:embeddedFont>
      <p:font typeface="Heading Now 71-78 Bold" panose="020B0604020202020204" charset="0"/>
      <p:regular r:id="rId8"/>
    </p:embeddedFont>
    <p:embeddedFont>
      <p:font typeface="Open Sauce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20102" y="684579"/>
            <a:ext cx="10068550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6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Recommender Systems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9600" y="2470458"/>
            <a:ext cx="176784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A Hybrid Explainable Framework for Context-Aware Consumer Complaint Resolution Recommendation Using Transformer Embeddings and Historical Case Retrieval</a:t>
            </a:r>
            <a:endParaRPr lang="en-IN" sz="6000" b="1" dirty="0">
              <a:solidFill>
                <a:schemeClr val="bg1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391275" y="7323037"/>
            <a:ext cx="11896725" cy="1750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Hemila Saravanan -  23MIA1048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Lokireddy Madhavi – 23MIA1135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78"/>
    </mc:Choice>
    <mc:Fallback xmlns="">
      <p:transition spd="slow" advTm="1297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74948" y="696406"/>
            <a:ext cx="7602252" cy="811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5400" b="1" dirty="0">
                <a:solidFill>
                  <a:schemeClr val="bg1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4948" y="2549035"/>
            <a:ext cx="17279652" cy="4372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Financial institutions receive a large volume of consumer complaints, making complaint handling slow and resource-intensive.</a:t>
            </a:r>
          </a:p>
          <a:p>
            <a:pPr marL="323850" lvl="1" algn="just">
              <a:lnSpc>
                <a:spcPts val="3124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Existing NLP models mainly focus on complaint classification, sentiment analysis, and routing, but do not recommend appropriate resolutions based on historical complaint cases.</a:t>
            </a:r>
          </a:p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Manual complaint resolution often leads to inconsistent decisions, longer response times, and reduced customer satisfaction.</a:t>
            </a:r>
          </a:p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just">
              <a:lnSpc>
                <a:spcPts val="3124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Therefore, an intelligent and explainable complaint resolution recommendation system is required to support faster and more accurate decision-making.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E62F927C-36D4-393A-FC0D-85ADB5F76D6E}"/>
              </a:ext>
            </a:extLst>
          </p:cNvPr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8840B3F0-880A-028A-2712-58C8F93AAB3C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61880A96-8D02-AFC9-9A50-76FBCAC5EEE3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30"/>
    </mc:Choice>
    <mc:Fallback xmlns="">
      <p:transition spd="slow" advTm="4063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-304800" y="477049"/>
            <a:ext cx="6178550" cy="75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6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7943" y="1682750"/>
            <a:ext cx="16813257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8693" lvl="1" indent="-274346" algn="just">
              <a:lnSpc>
                <a:spcPts val="3557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Develop an NLP-based framework to understand consumer complaint narratives.</a:t>
            </a:r>
          </a:p>
          <a:p>
            <a:pPr marL="274347" lvl="1" algn="just">
              <a:lnSpc>
                <a:spcPts val="3557"/>
              </a:lnSpc>
            </a:pPr>
            <a:endParaRPr lang="en-US" sz="36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48693" lvl="1" indent="-274346" algn="just">
              <a:lnSpc>
                <a:spcPts val="3557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Integrate complaint text with structured complaint attributes for comprehensive analysis.</a:t>
            </a:r>
          </a:p>
          <a:p>
            <a:pPr marL="274347" lvl="1" algn="just">
              <a:lnSpc>
                <a:spcPts val="3557"/>
              </a:lnSpc>
            </a:pPr>
            <a:endParaRPr lang="en-US" sz="36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48693" lvl="1" indent="-274346" algn="just">
              <a:lnSpc>
                <a:spcPts val="3557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Retrieve semantically similar historical complaints.</a:t>
            </a:r>
          </a:p>
          <a:p>
            <a:pPr marL="274347" lvl="1" algn="just">
              <a:lnSpc>
                <a:spcPts val="3557"/>
              </a:lnSpc>
            </a:pPr>
            <a:endParaRPr lang="en-US" sz="36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48693" lvl="1" indent="-274346" algn="just">
              <a:lnSpc>
                <a:spcPts val="3557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Recommend the most appropriate resolution based on historical complaint cases.</a:t>
            </a:r>
          </a:p>
          <a:p>
            <a:pPr marL="274347" lvl="1" algn="just">
              <a:lnSpc>
                <a:spcPts val="3557"/>
              </a:lnSpc>
            </a:pPr>
            <a:endParaRPr lang="en-US" sz="36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48693" lvl="1" indent="-274346" algn="just">
              <a:lnSpc>
                <a:spcPts val="3557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Provide explainable AI-based recommendations to improve transparency and decision support.</a:t>
            </a:r>
          </a:p>
          <a:p>
            <a:pPr algn="just">
              <a:lnSpc>
                <a:spcPts val="3557"/>
              </a:lnSpc>
            </a:pPr>
            <a:endParaRPr lang="en-US" sz="36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F3498666-A06B-CA2B-46D4-E25DB1628FC6}"/>
              </a:ext>
            </a:extLst>
          </p:cNvPr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89946052-2A88-25CC-1318-2BB2710413AC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4E8A182C-2B17-D7D3-2BEE-CBE176ED59E2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42"/>
    </mc:Choice>
    <mc:Fallback xmlns="">
      <p:transition spd="slow" advTm="279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-5105400" y="1000004"/>
            <a:ext cx="14869004" cy="85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Novelty</a:t>
            </a:r>
            <a:endParaRPr lang="en-US" sz="4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38200" y="2400300"/>
            <a:ext cx="17270197" cy="478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059" lvl="1" indent="-285530" algn="just">
              <a:lnSpc>
                <a:spcPts val="3703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Intelligent Resolution Recommendation Instead of Complaint Classification</a:t>
            </a:r>
          </a:p>
          <a:p>
            <a:pPr algn="just">
              <a:lnSpc>
                <a:spcPts val="3703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059" lvl="1" indent="-285530" algn="just">
              <a:lnSpc>
                <a:spcPts val="3703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Retrieval-Augmented Complaint Analysis</a:t>
            </a:r>
          </a:p>
          <a:p>
            <a:pPr algn="just">
              <a:lnSpc>
                <a:spcPts val="3703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059" lvl="1" indent="-285530" algn="just">
              <a:lnSpc>
                <a:spcPts val="3703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Hybrid Complaint Representation</a:t>
            </a:r>
          </a:p>
          <a:p>
            <a:pPr algn="just">
              <a:lnSpc>
                <a:spcPts val="3703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059" lvl="1" indent="-285530" algn="just">
              <a:lnSpc>
                <a:spcPts val="3703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Transformer-Based Semantic Understanding</a:t>
            </a:r>
          </a:p>
          <a:p>
            <a:pPr algn="just">
              <a:lnSpc>
                <a:spcPts val="3703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703"/>
              </a:lnSpc>
            </a:pPr>
            <a:endParaRPr lang="en-US" sz="3200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2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6289FE58-1527-480C-DA17-67C84BAB8C0A}"/>
              </a:ext>
            </a:extLst>
          </p:cNvPr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FD6D585-BBAC-F2E4-772D-FB07DBB796C2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701FB921-2063-4CBE-8525-C4BC46D1C358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61"/>
    </mc:Choice>
    <mc:Fallback xmlns="">
      <p:transition spd="slow" advTm="1746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76200" y="-116170"/>
            <a:ext cx="18440399" cy="1144870"/>
          </a:xfrm>
          <a:custGeom>
            <a:avLst/>
            <a:gdLst/>
            <a:ahLst/>
            <a:cxnLst/>
            <a:rect l="l" t="t" r="r" b="b"/>
            <a:pathLst>
              <a:path w="18801739" h="1144870">
                <a:moveTo>
                  <a:pt x="0" y="0"/>
                </a:moveTo>
                <a:lnTo>
                  <a:pt x="18801740" y="0"/>
                </a:lnTo>
                <a:lnTo>
                  <a:pt x="18801740" y="1144870"/>
                </a:lnTo>
                <a:lnTo>
                  <a:pt x="0" y="1144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848" b="-2184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-3276600" y="115178"/>
            <a:ext cx="11166859" cy="6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78ED742-C53E-746F-612E-0E0D1931D89E}"/>
              </a:ext>
            </a:extLst>
          </p:cNvPr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94533CFD-5DC8-A79C-B1A6-8F3B1EB8DF44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FDB933A5-15F3-12C9-848E-52B6C4ADBC2A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53C3E3-362F-EBD5-E034-43520474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221948"/>
            <a:ext cx="14782799" cy="7667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665"/>
    </mc:Choice>
    <mc:Fallback xmlns="">
      <p:transition spd="slow" advTm="3046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615651" y="3178002"/>
            <a:ext cx="9056698" cy="18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287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18D51D9B-57AF-41FC-0B1E-F185F744BC24}"/>
              </a:ext>
            </a:extLst>
          </p:cNvPr>
          <p:cNvGrpSpPr/>
          <p:nvPr/>
        </p:nvGrpSpPr>
        <p:grpSpPr>
          <a:xfrm>
            <a:off x="-1" y="9290507"/>
            <a:ext cx="18288001" cy="996493"/>
            <a:chOff x="0" y="0"/>
            <a:chExt cx="5111753" cy="262451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0F0E3AD5-29F5-B84B-4F86-23305B1BD702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75AC425-7F63-944D-0A97-D2DEB8F6AD6D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77"/>
    </mc:Choice>
    <mc:Fallback xmlns="">
      <p:transition spd="slow" advTm="427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181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Poppins</vt:lpstr>
      <vt:lpstr>Calibri</vt:lpstr>
      <vt:lpstr>Heading Now 71-78 Bold</vt:lpstr>
      <vt:lpstr>Open Sauce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Modern Data Analysts Presentation</dc:title>
  <dc:creator>madhavi reddy</dc:creator>
  <cp:lastModifiedBy>Hemila S</cp:lastModifiedBy>
  <cp:revision>6</cp:revision>
  <dcterms:created xsi:type="dcterms:W3CDTF">2006-08-16T00:00:00Z</dcterms:created>
  <dcterms:modified xsi:type="dcterms:W3CDTF">2026-10-29T13:53:09Z</dcterms:modified>
  <dc:identifier>DAHW7FGGoAU</dc:identifier>
</cp:coreProperties>
</file>